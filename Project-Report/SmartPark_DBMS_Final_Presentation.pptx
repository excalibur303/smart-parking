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d8e72f739864993" Type="http://schemas.openxmlformats.org/officeDocument/2006/relationships/officeDocument" Target="ppt/presentation.xml"/><Relationship Id="R6c91c102f8984933" Type="http://schemas.openxmlformats.org/package/2006/relationships/metadata/core-properties" Target="docProps/core.xml"/><Relationship Id="R76462b08eec4466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4c9ef0f4134d1b"/>
  </p:sldMasterIdLst>
  <p:notesMasterIdLst>
    <p:notesMasterId xmlns:r="http://schemas.openxmlformats.org/officeDocument/2006/relationships" r:id="R9913162d1c47482f"/>
  </p:notesMasterIdLst>
  <p:sldIdLst>
    <p:sldId xmlns:r="http://schemas.openxmlformats.org/officeDocument/2006/relationships" id="256" r:id="Rdec0cb1a61594b13"/>
    <p:sldId xmlns:r="http://schemas.openxmlformats.org/officeDocument/2006/relationships" id="257" r:id="R493259c6cc7d4759"/>
    <p:sldId xmlns:r="http://schemas.openxmlformats.org/officeDocument/2006/relationships" id="258" r:id="R323dbfbc07f74d1c"/>
    <p:sldId xmlns:ns0="http://schemas.openxmlformats.org/officeDocument/2006/relationships" id="266" ns0:id="rId16"/>
    <p:sldId xmlns:ns0="http://schemas.openxmlformats.org/officeDocument/2006/relationships" id="267" ns0:id="rId17"/>
    <p:sldId xmlns:ns0="http://schemas.openxmlformats.org/officeDocument/2006/relationships" id="268" ns0:id="rId18"/>
    <p:sldId xmlns:ns0="http://schemas.openxmlformats.org/officeDocument/2006/relationships" id="269" ns0:id="rId19"/>
    <p:sldId xmlns:ns0="http://schemas.openxmlformats.org/officeDocument/2006/relationships" id="270" ns0:id="rId20"/>
    <p:sldId xmlns:ns0="http://schemas.openxmlformats.org/officeDocument/2006/relationships" id="271" ns0:id="rId21"/>
    <p:sldId xmlns:r="http://schemas.openxmlformats.org/officeDocument/2006/relationships" id="259" r:id="Rfc060d3b2cac4f4e"/>
    <p:sldId xmlns:r="http://schemas.openxmlformats.org/officeDocument/2006/relationships" id="260" r:id="Rfd302c675c8b43eb"/>
    <p:sldId xmlns:r="http://schemas.openxmlformats.org/officeDocument/2006/relationships" id="261" r:id="R2dbed9e5ec7b40f9"/>
    <p:sldId xmlns:r="http://schemas.openxmlformats.org/officeDocument/2006/relationships" id="262" r:id="Rdff2ebd810ae4a07"/>
    <p:sldId xmlns:r="http://schemas.openxmlformats.org/officeDocument/2006/relationships" id="263" r:id="Rcd5d2ca464474046"/>
    <p:sldId xmlns:r="http://schemas.openxmlformats.org/officeDocument/2006/relationships" id="264" r:id="Ra4a18276db494ef1"/>
    <p:sldId xmlns:r="http://schemas.openxmlformats.org/officeDocument/2006/relationships" id="265" r:id="Rcc1ce01afbc44f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4c64197e02743fd" Type="http://schemas.openxmlformats.org/officeDocument/2006/relationships/theme" Target="theme/theme1.xml"/><Relationship Id="R2dbed9e5ec7b40f9" Type="http://schemas.openxmlformats.org/officeDocument/2006/relationships/slide" Target="slides/slide6.xml"/><Relationship Id="R323dbfbc07f74d1c" Type="http://schemas.openxmlformats.org/officeDocument/2006/relationships/slide" Target="slides/slide3.xml"/><Relationship Id="R493259c6cc7d4759" Type="http://schemas.openxmlformats.org/officeDocument/2006/relationships/slide" Target="slides/slide2.xml"/><Relationship Id="R4e0476e4cf7a4a2c" Type="http://schemas.openxmlformats.org/officeDocument/2006/relationships/tableStyles" Target="tableStyles.xml"/><Relationship Id="R5528b80dba0545de" Type="http://schemas.openxmlformats.org/officeDocument/2006/relationships/presProps" Target="presProps.xml"/><Relationship Id="R9913162d1c47482f" Type="http://schemas.openxmlformats.org/officeDocument/2006/relationships/notesMaster" Target="notesMasters/notesMaster1.xml"/><Relationship Id="Ra4a18276db494ef1" Type="http://schemas.openxmlformats.org/officeDocument/2006/relationships/slide" Target="slides/slide9.xml"/><Relationship Id="Rcc1ce01afbc44f70" Type="http://schemas.openxmlformats.org/officeDocument/2006/relationships/slide" Target="slides/slide10.xml"/><Relationship Id="Rcd5d2ca464474046" Type="http://schemas.openxmlformats.org/officeDocument/2006/relationships/slide" Target="slides/slide8.xml"/><Relationship Id="Rdec0cb1a61594b13" Type="http://schemas.openxmlformats.org/officeDocument/2006/relationships/slide" Target="slides/slide1.xml"/><Relationship Id="Rdff2ebd810ae4a07" Type="http://schemas.openxmlformats.org/officeDocument/2006/relationships/slide" Target="slides/slide7.xml"/><Relationship Id="Re94c9ef0f4134d1b" Type="http://schemas.openxmlformats.org/officeDocument/2006/relationships/slideMaster" Target="slideMasters/slideMaster1.xml"/><Relationship Id="Rfc060d3b2cac4f4e" Type="http://schemas.openxmlformats.org/officeDocument/2006/relationships/slide" Target="slides/slide4.xml"/><Relationship Id="Rfd302c675c8b43eb" Type="http://schemas.openxmlformats.org/officeDocument/2006/relationships/slide" Target="slides/slide5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a6a217cabd2841d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5111d68f5854173" Type="http://schemas.openxmlformats.org/officeDocument/2006/relationships/notesMaster" Target="../notesMasters/notesMaster1.xml"/><Relationship Id="Rd2b87d3b95454f0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b5d486982f244a38" Type="http://schemas.openxmlformats.org/officeDocument/2006/relationships/notesMaster" Target="../notesMasters/notesMaster1.xml"/><Relationship Id="Rebbe24698697417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fc9f406fc9e4ce8" Type="http://schemas.openxmlformats.org/officeDocument/2006/relationships/slide" Target="../slides/slide3.xml"/><Relationship Id="Ra7fd4d8e2656477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52703e6e8414ed3" Type="http://schemas.openxmlformats.org/officeDocument/2006/relationships/slide" Target="../slides/slide4.xml"/><Relationship Id="R3833ba34ad414d4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944dcf592b28410a" Type="http://schemas.openxmlformats.org/officeDocument/2006/relationships/notesMaster" Target="../notesMasters/notesMaster1.xml"/><Relationship Id="Rc3282abdfb7e4ae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1a68596f4bd491b" Type="http://schemas.openxmlformats.org/officeDocument/2006/relationships/slide" Target="../slides/slide6.xml"/><Relationship Id="Rae3ddd5147be4cf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8a52f95ec1c4141" Type="http://schemas.openxmlformats.org/officeDocument/2006/relationships/notesMaster" Target="../notesMasters/notesMaster1.xml"/><Relationship Id="Rfd03d8a84b92445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8a2fea0daf04e0b" Type="http://schemas.openxmlformats.org/officeDocument/2006/relationships/slide" Target="../slides/slide8.xml"/><Relationship Id="Rd8ff29fb72504545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180434137c14561" Type="http://schemas.openxmlformats.org/officeDocument/2006/relationships/notesMaster" Target="../notesMasters/notesMaster1.xml"/><Relationship Id="Red2581d6e5d54b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182929f71f54e9e" Type="http://schemas.openxmlformats.org/officeDocument/2006/relationships/notesMaster" Target="../notesMasters/notesMaster1.xml"/><Relationship Id="R45ef3b477f884e9e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faculty PDF requires the order and 10-minute timing. Project report cover gives Project 20, Group 12 and member names. Current GitHub checkout at commit 16c5f23 is the implementation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SmartPark report sections 1 and 2, README problem section. Scope excludes mobile applications and hardware integration per report scope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 pages 8 to 12 and repository docs/database/ER_DIAGRAM.md. Use this slide to explain entities, cardinality and participation, not every attribute.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 section 5, docs/database/NORMALIZATION.md, docs/database/DATA_DICTIONARY.md. This slide answers relational schema and normalization up to 3NF.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fresh local setup against smartpark_deck_20261005, repo migrations, docs/REVIEW_MAPPING.md and docs/TESTING.md. PostgreSQL note is included because the faculty PDF mentions MySQL but the final implementation truth is PostgreSQL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docs/database/queries.sql, db/migrations, fresh bay inventory query, fresh e2e_smoke output, docs/TESTING.md test 8. Do not claim MySQL execution, since the current project uses PostgreSQL.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db/migrations/006_gate_transactions.sql, api/db.py, db/tests/rls_tests.sql, fresh e2e_smoke run. Avoid overclaiming hardware or sensor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docs/screens. The fresh e2e_smoke run covered sign in, free-slot search, customer and vehicle insert, validation, reservation, gate entry and exit, payment and seven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command outputs in work/*.out, setup output, schema_counts.tsv, user_functions.out. Mention the pytest limitation if asked rather than hiding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faculty PDF questions section, repo DEMO_GUIDE.md and verified implementation. This final slide is for Q&amp;A, not another feature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5aea66a6c54486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a7d03ea107f4657" Type="http://schemas.openxmlformats.org/officeDocument/2006/relationships/theme" Target="theme/theme2.xml"/><Relationship Id="Rc7deadcc3c2b447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deadcc3c2b44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581495ec5804a9d" Type="http://schemas.openxmlformats.org/officeDocument/2006/relationships/image" Target="../media/image2.png"/><Relationship Id="R0624cbe6d5e14f73" Type="http://schemas.openxmlformats.org/officeDocument/2006/relationships/notesSlide" Target="../notesSlides/notesSlide1.xml"/><Relationship Id="R13a922e6dcf5476c" Type="http://schemas.openxmlformats.org/officeDocument/2006/relationships/image" Target="../media/image.png"/><Relationship Id="R2542f26009a94752" Type="http://schemas.openxmlformats.org/officeDocument/2006/relationships/image" Target="../media/image3.png"/><Relationship Id="Rae134d86fd7a43a3" Type="http://schemas.openxmlformats.org/officeDocument/2006/relationships/image" Target="../media/image.svg"/><Relationship Id="Rbbc602a997014980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b8d37f588e5406f" Type="http://schemas.openxmlformats.org/officeDocument/2006/relationships/slideLayout" Target="../slideLayouts/slideLayout1.xml"/><Relationship Id="Rc32a1abf9bf9414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7c29b5ef3904acd" Type="http://schemas.openxmlformats.org/officeDocument/2006/relationships/notesSlide" Target="../notesSlides/notesSlide3.xml"/><Relationship Id="R7794cf40ffd8452a" Type="http://schemas.openxmlformats.org/officeDocument/2006/relationships/image" Target="../media/image4.png"/><Relationship Id="Rf97c2ba67b154e2c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28b07227d86b4af6" Type="http://schemas.openxmlformats.org/officeDocument/2006/relationships/notesSlide" Target="../notesSlides/notesSlide4.xml"/><Relationship Id="R9d95e3bed5084fea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abd71c19be94db8" Type="http://schemas.openxmlformats.org/officeDocument/2006/relationships/notesSlide" Target="../notesSlides/notesSlide5.xml"/><Relationship Id="R81be21e47e16471b" Type="http://schemas.openxmlformats.org/officeDocument/2006/relationships/image" Target="../media/image5.png"/><Relationship Id="R89d54f3af35448a6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b38eeae594c466d" Type="http://schemas.openxmlformats.org/officeDocument/2006/relationships/notesSlide" Target="../notesSlides/notesSlide6.xml"/><Relationship Id="R8eacba35be484f2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49bfe78751645ef" Type="http://schemas.openxmlformats.org/officeDocument/2006/relationships/slideLayout" Target="../slideLayouts/slideLayout1.xml"/><Relationship Id="R2e22ecc4663340e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ddb17cb6b67493e" Type="http://schemas.openxmlformats.org/officeDocument/2006/relationships/image" Target="../media/image8.png"/><Relationship Id="R398e8d36a313442b" Type="http://schemas.openxmlformats.org/officeDocument/2006/relationships/slideLayout" Target="../slideLayouts/slideLayout1.xml"/><Relationship Id="R5f8340ba218046e5" Type="http://schemas.openxmlformats.org/officeDocument/2006/relationships/image" Target="../media/image11.png"/><Relationship Id="R687b2bec1bda4925" Type="http://schemas.openxmlformats.org/officeDocument/2006/relationships/image" Target="../media/image10.png"/><Relationship Id="R787137dfbdf74781" Type="http://schemas.openxmlformats.org/officeDocument/2006/relationships/notesSlide" Target="../notesSlides/notesSlide8.xml"/><Relationship Id="R79904a4782c84b3c" Type="http://schemas.openxmlformats.org/officeDocument/2006/relationships/image" Target="../media/image7.png"/><Relationship Id="Rd3f3e14ad0e04bc1" Type="http://schemas.openxmlformats.org/officeDocument/2006/relationships/image" Target="../media/image9.png"/><Relationship Id="Rf3e2dcd1ff2d4e37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25542f337f034796" Type="http://schemas.openxmlformats.org/officeDocument/2006/relationships/slideLayout" Target="../slideLayouts/slideLayout1.xml"/><Relationship Id="R4e66e63230bc4fe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90968fdbf5314071" Type="http://schemas.openxmlformats.org/officeDocument/2006/relationships/notesSlide" Target="../notesSlides/notesSlide10.xml"/><Relationship Id="Re363aba58f10461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922e6dcf5476c">
            <a:extLst>
              <a:ext uri="{96DAC541-7B7A-43D3-8B79-37D633B846F1}">
                <asvg:svgBlip xmlns:asvg="http://schemas.microsoft.com/office/drawing/2016/SVG/main" r:embed="Rae134d86fd7a43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76250"/>
            <a:ext cx="25717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8075F-7774-4E8B-8DC9-9058ECAC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DBMS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0EC69-0820-4C6B-8779-D9A86813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45C"/>
                </a:solidFill>
                <a:latin typeface="Helvetica Neue"/>
                <a:ea typeface="Helvetica Neue"/>
                <a:cs typeface="Helvetica Neue"/>
              </a:rPr>
              <a:t>Design and Implementation of a Database Management System for Smart Parking Lot Allocation and Billing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1624B-9A4B-41A2-A023-3B41F3DA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Project 20, Group 12</a:t>
            </a:r>
          </a:p>
          <a:p xmlns:a="http://schemas.openxmlformats.org/drawingml/2006/main">
            <a:pPr>
              <a:def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Lakshay Sethia, Sidharth Sood, Shardul Yadav, Naman Singla</a:t>
            </a:r>
          </a:p>
          <a:p xmlns:a="http://schemas.openxmlformats.org/drawingml/2006/main">
            <a:pPr>
              <a:def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Repository commit: 16c5f23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8A69A-419B-4442-81C8-D3894B3F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5715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5C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DBMS final presentation, verified against the current GitHub repository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1495ec5804a9d"/>
          <a:srcRect xmlns:a="http://schemas.openxmlformats.org/drawingml/2006/main" l="4375" t="0" r="4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895350"/>
            <a:ext cx="4171950" cy="2857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2f26009a94752"/>
          <a:srcRect xmlns:a="http://schemas.openxmlformats.org/drawingml/2006/main" l="0" t="9817" r="0" b="9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4000500"/>
            <a:ext cx="417195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59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A2A28-7650-4B65-9C2C-0DDA4F1A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Problem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CC9D4-12F4-4FF9-B817-05ECED2E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96908-B523-4AAD-A18E-B0944416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Multi-level parking needs one trusted record of bays, vehicles, reservations, entries, exits and payments. Manual ticketing fails when slot availability changes faster than staff can coordinate.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3381B-8691-4AD2-906D-E7F617C0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43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A17A1-7227-44F6-AFDF-DF235EE9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Failures to remove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8F75D-26FF-4389-889B-8C77DD7B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66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4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Slot conflicts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Two attendants can assign the same bay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Revenue leakage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Charges can vary by person and unpaid exits may be missed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5F4CB-D730-4AB7-A66A-3DC537D0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3143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59840-3BF0-4D2A-9CE5-B02BE774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Core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C7B5B-8A7B-4ECA-830C-0D826652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Make invalid parking states hard to store by using keys, constraints, triggers, transactions and role-based access in the database.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1CF34-A0F6-4961-8D21-DDA9BDB8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3143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241F2-3045-4A72-895D-B09068AC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Users and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899D9-DFA4-4A9C-A79C-7CA02F58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266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Administrators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Gate operators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Customers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No mobile app, no hardware sensor integration, no payment gateway build-out</a:t>
            </a:r>
          </a:p>
        </p:txBody>
      </p:sp>
    </p:spTree>
    <p:extLst>
      <p:ext uri="{BB962C8B-B14F-4D97-AF65-F5344CB8AC3E}">
        <p14:creationId xmlns:p14="http://schemas.microsoft.com/office/powerpoint/2010/main" val="331213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93E6A-8596-472F-8343-3C081DA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ER Diagram and Relationships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D083F-7B89-4857-B0C9-53B108C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37537-C332-4D73-96A1-5641026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3333750" cy="4095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62697-125E-44FD-9C04-28B8F753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Entities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81F78-E71A-46FE-8585-1E4E174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9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17 tables model the domain:</a:t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facility, floor, zone, slot, vehicle type, customer, vehicle, reservation, parking session, pass, tariff, bill, payment, violation, app user, pass type, audit log.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2E5EE-FB20-4296-A35E-51D54F2F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Cardinality to defend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69AD6-069B-4A34-814C-06548C32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6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Facility to floor: 1 to many</a:t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Vehicle to session: 1 to many over time, 1 active at a time</a:t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Slot to reservation: 1 to many, non-overlapping while live</a:t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Session to bill: 1 to 0 or 1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chen_overview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562" y="1420000"/>
            <a:ext cx="5240075" cy="49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60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CC6B0-A98D-477D-B610-BA232EEE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Relational Schema and 3NF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886BA-DB84-4000-A995-82EDA10C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A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56210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476500"/>
                <a:gridCol w="2857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Schema group</a:t>
                      </a:r>
                    </a:p>
                  </a:txBody>
                  <a:tcPr marL="91440" marR="91440" marT="45720" marB="45720">
                    <a:solidFill>
                      <a:srgbClr val="0F5C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tables</a:t>
                      </a:r>
                    </a:p>
                  </a:txBody>
                  <a:tcPr marL="91440" marR="91440" marT="45720" marB="45720">
                    <a:solidFill>
                      <a:srgbClr val="0F5C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Design point</a:t>
                      </a:r>
                    </a:p>
                  </a:txBody>
                  <a:tcPr marL="91440" marR="91440" marT="45720" marB="45720">
                    <a:solidFill>
                      <a:srgbClr val="0F5C3A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structure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facility, floor, zone, slot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Each bay resolves to one facility through containment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People and vehicles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app_user, customer, vehicle, vehicle_type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Login identity stays separate from customer record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reservation, parking_session, parking_pass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 state derives from time fields and exits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Money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tariff, bill, payment, pass_type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Bills keep the tariff that priced the stay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violation, audit_log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Violations and changes remain queryable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E2D84-31CA-40C5-85D4-CBE96EB9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62100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03F00-E48A-463F-8633-4E4AF221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Normalization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E57F3-3EAE-4EE3-988F-F65DE42B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2667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61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1NF</a:t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Payments and tariff versions move out of the flat ticket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2NF</a:t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Facility, floor, zone and slot split the composite bay key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3NF</a:t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Customer, vehicle type and derived status facts are separated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59900-134E-4249-9CAD-D9CAB2F7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92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Deliberate absence: no slot.status column. Slot state is derived from open sessions and live reservations, so the database cannot disagree with itself.</a:t>
            </a:r>
          </a:p>
        </p:txBody>
      </p:sp>
    </p:spTree>
    <p:extLst>
      <p:ext uri="{BB962C8B-B14F-4D97-AF65-F5344CB8AC3E}">
        <p14:creationId xmlns:p14="http://schemas.microsoft.com/office/powerpoint/2010/main" val="29988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C7944-F778-4798-88C3-08C385B0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Database Design and Constraints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A76F0-4932-4EC2-BCA6-22DC7A5B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A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37147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714500"/>
              </a:tblGrid>
              <a:tr h="421821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item</a:t>
                      </a:r>
                    </a:p>
                  </a:txBody>
                  <a:tcPr marL="91440" marR="91440" marT="45720" marB="45720">
                    <a:solidFill>
                      <a:srgbClr val="0F5C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Fresh checkout result</a:t>
                      </a:r>
                    </a:p>
                  </a:txBody>
                  <a:tcPr marL="91440" marR="91440" marT="45720" marB="45720">
                    <a:solidFill>
                      <a:srgbClr val="0F5C3A"/>
                    </a:solidFill>
                  </a:tcPr>
                </a:tc>
              </a:tr>
              <a:tr h="421821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 tables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 views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</a:tr>
              <a:tr h="421821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User-defined functions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Triggers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</a:tr>
              <a:tr h="421821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Foreign keys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Indexes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29AC4-7B48-461F-863B-8BBBF441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81150"/>
            <a:ext cx="590550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68827-F23D-4416-9770-400F5971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47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Rules enforced in the database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E77BF-6B8C-4AB5-BB45-634D0052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5048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1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One active session per slot and per vehicle: partial unique indexes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Slot type must match vehicle type: composite foreign keys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No overlapping reservations, passes or tariffs: GiST exclusion constraints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Exit follows entry: CHECK constraint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Charges come from tariff function, then a trigger overwrites client amounts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Payments cannot exceed bill balance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923AD-68A3-4452-8C3D-B6EFC171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576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4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45C"/>
                </a:solidFill>
                <a:latin typeface="Helvetica Neue"/>
                <a:ea typeface="Helvetica Neue"/>
                <a:cs typeface="Helvetica Neue"/>
              </a:rPr>
              <a:t>The professor asks for database and table creation with keys, foreign keys and constraints. This project uses PostgreSQL 17, so the live commands are PostgreSQL SQL rather than MySQL-only syntax.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e21e47e16471b"/>
          <a:srcRect xmlns:a="http://schemas.openxmlformats.org/drawingml/2006/main" l="0" t="29520" r="0" b="29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857750"/>
            <a:ext cx="4762500" cy="121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90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CBA36-D602-4F14-BC01-C6E55CD4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Database and Query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36810-25E1-4400-B1CD-75901BF1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124BD-EA71-46BF-9140-B6633873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4953000" cy="361950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E234B-1A73-4CDB-8955-2CF8A8CE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DDL and DML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1F7E9-709C-404D-98BE-E10C9970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095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08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db/migrations/001 to 019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schema, constraints, functions, views, RLS and seed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docs/database/queries.sql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18 runnable query examples covering joins, aggregate functions, subqueries, views, windows and JSONB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1B014-4906-4470-B4D1-0A754A09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Fresh query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35D58-820E-4DA2-B6CE-C0D9CB1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4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51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2251C"/>
                </a:solidFill>
                <a:latin typeface="Menlo"/>
                <a:ea typeface="Menlo"/>
                <a:cs typeface="Menlo"/>
              </a:rPr>
              <a:t>SmartPark Central, Hatchback / Sedan, 52 bays, 1 out of service</a:t>
            </a:r>
          </a:p>
          <a:p xmlns:a="http://schemas.openxmlformats.org/drawingml/2006/main">
            <a:pPr>
              <a:defRPr sz="1200" b="0">
                <a:solidFill>
                  <a:srgbClr val="12251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2251C"/>
                </a:solidFill>
                <a:latin typeface="Menlo"/>
                <a:ea typeface="Menlo"/>
                <a:cs typeface="Menlo"/>
              </a:rPr>
              <a:t>SmartPark Riverside, Hatchback / Sedan, 22 bays, 0 out of service</a:t>
            </a:r>
          </a:p>
          <a:p xmlns:a="http://schemas.openxmlformats.org/drawingml/2006/main">
            <a:pPr>
              <a:defRPr sz="1200" b="0">
                <a:solidFill>
                  <a:srgbClr val="12251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2251C"/>
                </a:solidFill>
                <a:latin typeface="Menlo"/>
                <a:ea typeface="Menlo"/>
                <a:cs typeface="Menlo"/>
              </a:rPr>
              <a:t>End-to-end run found 41 free car bays before demo inserts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C5AE6-14CF-4449-8AF0-96DA7850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0200"/>
            <a:ext cx="4953000" cy="361950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6E330-C083-47B9-BC3D-562C9D08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Best live SQL to demonstrate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0787E-170A-43EC-A5EF-3DCDF23F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1. Show migrations for CREATE TABLE and constraints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2. Run docs/database/queries.sql for joins and aggregates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3. Run constraint test 8 to prove client-entered billing amount gets corrected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4. Run one report view, such as v_revenue_daily or v_free_slots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9E94C-DE08-4D0D-AB9C-24D11335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Constraint test 8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1CD06-3817-4E81-954E-3A47A2C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09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51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2251C"/>
                </a:solidFill>
                <a:latin typeface="Menlo"/>
                <a:ea typeface="Menlo"/>
                <a:cs typeface="Menlo"/>
              </a:rPr>
              <a:t>client claimed:  base 1.00, tax 0.00, total 1.00</a:t>
            </a:r>
          </a:p>
          <a:p xmlns:a="http://schemas.openxmlformats.org/drawingml/2006/main">
            <a:pPr>
              <a:defRPr sz="1200" b="0">
                <a:solidFill>
                  <a:srgbClr val="12251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2251C"/>
                </a:solidFill>
                <a:latin typeface="Menlo"/>
                <a:ea typeface="Menlo"/>
                <a:cs typeface="Menlo"/>
              </a:rPr>
              <a:t>database stored: base 80.00, tax 14.40, total 94.40</a:t>
            </a:r>
          </a:p>
        </p:txBody>
      </p:sp>
    </p:spTree>
    <p:extLst>
      <p:ext uri="{BB962C8B-B14F-4D97-AF65-F5344CB8AC3E}">
        <p14:creationId xmlns:p14="http://schemas.microsoft.com/office/powerpoint/2010/main" val="1369731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8A3EB-8293-4A08-A4D7-A05E982F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Transactions and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8A637-9724-4BF3-9380-36FB8D8E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2B20C-CF17-45C0-9181-93AB4BD3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95300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EA071-981E-4DAF-A2EE-06DBCE6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Gate entry as one transaction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210D1-2328-4BF8-95CA-1C46B84B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4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fn_gate_entry resolves vehicle, honours a live reservation if present, locks a candidate slot, attaches a valid pass, inserts the session and marks the reservation fulfilled.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2D57B-3BB8-4DDE-BA7C-00F6123E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Locking detail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EC269-52DC-48AF-B13A-5EAC108B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51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2251C"/>
                </a:solidFill>
                <a:latin typeface="Menlo"/>
                <a:ea typeface="Menlo"/>
                <a:cs typeface="Menlo"/>
              </a:rPr>
              <a:t>SELECT ... FOR UPDATE SKIP LOCKED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56A5D-D3B9-4ACD-871C-E364AB3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This prevents two operators from receiving the same free bay during concurrent arrivals.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6ABE1-8E45-4712-8BF0-B76C0542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62100"/>
            <a:ext cx="495300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272A6-5B6A-4FD0-991C-F95F51EB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Role-level isolation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36F26-E169-4FB3-86E8-99434E9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98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2251C"/>
                </a:solidFill>
                <a:latin typeface="Menlo"/>
                <a:ea typeface="Menlo"/>
                <a:cs typeface="Menlo"/>
              </a:rPr>
              <a:t>FastAPI sets the caller identity inside each transaction:</a:t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2251C"/>
                </a:solidFill>
                <a:latin typeface="Menlo"/>
                <a:ea typeface="Menlo"/>
                <a:cs typeface="Menlo"/>
              </a:rPr>
              <a:t>SET LOCAL app.current_user_id</a:t>
            </a:r>
          </a:p>
          <a:p xmlns:a="http://schemas.openxmlformats.org/drawingml/2006/main">
            <a:pPr>
              <a:defRPr sz="1275" b="0">
                <a:solidFill>
                  <a:srgbClr val="12251C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2251C"/>
                </a:solidFill>
                <a:latin typeface="Menlo"/>
                <a:ea typeface="Menlo"/>
                <a:cs typeface="Menlo"/>
              </a:rPr>
              <a:t>SET LOCAL ROLE parking_operator or parking_customer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0D82D-F849-4EAE-AAF8-B711EE42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Fresh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93C30-7F59-4478-87BA-5943C53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RLS tests completed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Customer sees 3 vehicles while admin sees 47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Operator cannot change tariffs</a:t>
            </a:r>
          </a:p>
          <a:p xmlns:a="http://schemas.openxmlformats.org/drawingml/2006/main">
            <a:pPr>
              <a:def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Only admins can read audit_log</a:t>
            </a:r>
          </a:p>
        </p:txBody>
      </p:sp>
    </p:spTree>
    <p:extLst>
      <p:ext uri="{BB962C8B-B14F-4D97-AF65-F5344CB8AC3E}">
        <p14:creationId xmlns:p14="http://schemas.microsoft.com/office/powerpoint/2010/main" val="154106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DDF69-75B4-4DB0-95A2-069AFF30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User Interface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83D30-68B4-48D1-817B-9F848773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A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2dcd1ff2d4e37"/>
          <a:srcRect xmlns:a="http://schemas.openxmlformats.org/drawingml/2006/main" l="0" t="12286" r="0" b="12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3333750" cy="1571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6CB08-BC02-4E50-B941-4BE2197E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04a4782c84b3c"/>
          <a:srcRect xmlns:a="http://schemas.openxmlformats.org/drawingml/2006/main" l="0" t="12286" r="0" b="12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1562100"/>
            <a:ext cx="3333750" cy="1571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5EA95-8960-40D8-8170-5281CF1F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Gate entry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b17cb6b67493e"/>
          <a:srcRect xmlns:a="http://schemas.openxmlformats.org/drawingml/2006/main" l="0" t="12286" r="0" b="12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1562100"/>
            <a:ext cx="3333750" cy="1571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0D65C-9026-4EB5-A3AC-CB5458AF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0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Reservations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3e14ad0e04bc1"/>
          <a:srcRect xmlns:a="http://schemas.openxmlformats.org/drawingml/2006/main" l="0" t="12286" r="0" b="12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3562350"/>
            <a:ext cx="3333750" cy="1571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19A27-3C22-49F2-9F9F-811A3931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Billing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b2bec1bda4925"/>
          <a:srcRect xmlns:a="http://schemas.openxmlformats.org/drawingml/2006/main" l="0" t="12286" r="0" b="12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3562350"/>
            <a:ext cx="3333750" cy="1571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90D67-34B9-4560-B9E1-59AB416A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00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Revenue report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340ba218046e5"/>
          <a:srcRect xmlns:a="http://schemas.openxmlformats.org/drawingml/2006/main" l="0" t="12286" r="0" b="12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3562350"/>
            <a:ext cx="3333750" cy="15716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9C0DD-EBA9-41F0-BFE2-3A13EBBA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00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Customers</a:t>
            </a:r>
          </a:p>
        </p:txBody>
      </p:sp>
    </p:spTree>
    <p:extLst>
      <p:ext uri="{BB962C8B-B14F-4D97-AF65-F5344CB8AC3E}">
        <p14:creationId xmlns:p14="http://schemas.microsoft.com/office/powerpoint/2010/main" val="475994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9C6A3-160E-4A7A-A001-84AF974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Verification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F2F58-73D8-4097-AD79-906270EE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A"/>
          </a:solidFill>
          <a:ln xmlns:a="http://schemas.openxmlformats.org/drawingml/2006/main" w="0">
            <a:noFill/>
          </a:ln>
        </p:spPr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1000125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7620000"/>
              </a:tblGrid>
              <a:tr h="4452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0F5C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Fresh result from this checkout</a:t>
                      </a:r>
                    </a:p>
                  </a:txBody>
                  <a:tcPr marL="91440" marR="91440" marT="45720" marB="45720">
                    <a:solidFill>
                      <a:srgbClr val="0F5C3A"/>
                    </a:solidFill>
                  </a:tcPr>
                </a:tc>
              </a:tr>
              <a:tr h="4452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Database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17.11, 19 migrations, 134 bays, 1,541 sessions, 1,521 bills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52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Constraint tests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Completed, deliberate violations refused or corrected by database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</a:tr>
              <a:tr h="4452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Lifecycle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lifecycle groups passed, rolled back after execution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52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RLS tests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Completed, audit trail restricted, facility and customer scoping held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</a:tr>
              <a:tr h="4452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Import 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 local modules, 24 files scanned, every named import resolves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52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End-to-end smoke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checks passed, sign-in to reports through real API</a:t>
                      </a:r>
                    </a:p>
                  </a:txBody>
                  <a:tcPr marL="91440" marR="91440" marT="45720" marB="45720">
                    <a:solidFill>
                      <a:srgbClr val="F1F6F3"/>
                    </a:solidFill>
                  </a:tcPr>
                </a:tc>
              </a:tr>
              <a:tr h="4452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API pytest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225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run here, pytest is not installed by the standard setup venv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889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62328-A838-4765-ABA3-F3E1AE6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CDE49-054E-4D6D-B539-08881C76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E4F0C-05E3-403E-A2C3-336F4885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476250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82562-1C66-4B3B-98F2-E90929CA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Likely viva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886B8-FD4B-456E-B33F-C0AC5BDE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3905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Why PostgreSQL instead of MySQL?</a:t>
            </a:r>
          </a:p>
          <a:p xmlns:a="http://schemas.openxmlformats.org/drawingml/2006/main">
            <a:pPr>
              <a:def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Which constraints stop double booking?</a:t>
            </a:r>
          </a:p>
          <a:p xmlns:a="http://schemas.openxmlformats.org/drawingml/2006/main">
            <a:pPr>
              <a:def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How does 3NF apply to the schema?</a:t>
            </a:r>
          </a:p>
          <a:p xmlns:a="http://schemas.openxmlformats.org/drawingml/2006/main">
            <a:pPr>
              <a:def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Why is slot status derived?</a:t>
            </a:r>
          </a:p>
          <a:p xmlns:a="http://schemas.openxmlformats.org/drawingml/2006/main">
            <a:pPr>
              <a:def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How does row-level security affect customers and operators?</a:t>
            </a:r>
          </a:p>
          <a:p xmlns:a="http://schemas.openxmlformats.org/drawingml/2006/main">
            <a:pPr>
              <a:def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How do we know billing cannot be typed manually?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A4484-501B-465D-888F-6FD17C1A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62100"/>
            <a:ext cx="476250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2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4CEFE-28FE-475E-8E4A-1A832896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One-line answers to keep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F14D9-0EAD-4A18-99DE-4554446C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3714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3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The database owns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The UI calls functions and views, but keys, constraints, row locks, triggers and RLS keep the data valid even if a client makes a bad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The live demo should prove insert, view and database reflection, then stop.</a:t>
            </a:r>
          </a:p>
        </p:txBody>
      </p:sp>
    </p:spTree>
    <p:extLst>
      <p:ext uri="{BB962C8B-B14F-4D97-AF65-F5344CB8AC3E}">
        <p14:creationId xmlns:p14="http://schemas.microsoft.com/office/powerpoint/2010/main" val="1140580473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/>
      <p:sp>
        <p:nvSpPr>
          <p:cNvPr id="9" name="">
            <a:extLst>
              <a:ext uri="{FF2B5EF4-FFF2-40B4-BE49-F238E27FC236}">
                <a16:creationId xmlns:a16="http://schemas.microsoft.com/office/drawing/2014/main" id="{64D93E6A-8596-472F-8343-3C081DAA9406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ER Notation Key (Chen)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7DD083F-7B89-4857-B0C9-53B108C5FB7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7E2DA"/>
          </a:solidFill>
          <a:ln w="0">
            <a:noFill/>
          </a:ln>
        </p:spPr>
        <p:txBody>
          <a:bodyPr/>
          <a:p/>
        </p:txBody>
      </p:sp>
      <p:pic>
        <p:nvPicPr>
          <p:cNvPr id="10" name="Picture 9" descr="chen_legend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33" y="1420000"/>
            <a:ext cx="3896534" cy="495000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a16:creationId xmlns:a16="http://schemas.microsoft.com/office/drawing/2014/main" id="{BF837537-C332-4D73-96A1-5641026E32A1}"/>
              </a:ext>
            </a:extLst>
          </p:cNvPr>
          <p:cNvSpPr>
            <a:spLocks noGrp="1"/>
          </p:cNvSpPr>
          <p:nvPr/>
        </p:nvSpPr>
        <p:spPr>
          <a:xfrm>
            <a:off x="5300000" y="1524000"/>
            <a:ext cx="6015000" cy="409575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7E2DA"/>
            </a:solidFill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9862697-125E-44FD-9C04-28B8F75378BA}"/>
              </a:ext>
            </a:extLst>
          </p:cNvPr>
          <p:cNvSpPr>
            <a:spLocks noGrp="1"/>
          </p:cNvSpPr>
          <p:nvPr/>
        </p:nvSpPr>
        <p:spPr>
          <a:xfrm>
            <a:off x="5570000" y="1790700"/>
            <a:ext cx="5400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>
              <a:def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C3A"/>
                </a:solidFill>
                <a:latin typeface="Helvetica Neue"/>
                <a:ea typeface="Helvetica Neue"/>
                <a:cs typeface="Helvetica Neue"/>
              </a:rPr>
              <a:t>How to read every ER diagram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81A81F78-E71A-46FE-8585-1E4E174FDBC9}"/>
              </a:ext>
            </a:extLst>
          </p:cNvPr>
          <p:cNvSpPr>
            <a:spLocks noGrp="1"/>
          </p:cNvSpPr>
          <p:nvPr/>
        </p:nvSpPr>
        <p:spPr>
          <a:xfrm>
            <a:off x="5570000" y="2250000"/>
            <a:ext cx="5450000" cy="320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098"/>
          </a:bodyPr>
          <a:lstStyle/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Rectangle: an entity (a table). Dashed rectangle: context entity shown for reference.</a:t>
            </a:r>
          </a:p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Diamond: a relationship, labelled with a verb; 1 / N on each line is the cardinality.</a:t>
            </a:r>
          </a:p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Single line: partial participation (nullable foreign key). Double line: total participation (NOT NULL foreign key).</a:t>
            </a:r>
          </a:p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Underlined ellipse: primary key. Yellow ellipse: UNIQUE. Dashed ellipse: derived attribute.</a:t>
            </a:r>
          </a:p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Foreign-key columns are not drawn as attributes; they are the relationship lines.</a:t>
            </a:r>
          </a:p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All cardinalities and participation are read from the live database constraints, so the diagram cannot drift from the schema.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/>
      <p:sp>
        <p:nvSpPr>
          <p:cNvPr id="9" name="">
            <a:extLst>
              <a:ext uri="{FF2B5EF4-FFF2-40B4-BE49-F238E27FC236}">
                <a16:creationId xmlns:a16="http://schemas.microsoft.com/office/drawing/2014/main" id="{64D93E6A-8596-472F-8343-3C081DAA9406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ER Detail: Facility structure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7DD083F-7B89-4857-B0C9-53B108C5FB7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7E2DA"/>
          </a:solidFill>
          <a:ln w="0">
            <a:noFill/>
          </a:ln>
        </p:spPr>
        <p:txBody>
          <a:bodyPr/>
          <a:p/>
        </p:txBody>
      </p:sp>
      <p:pic>
        <p:nvPicPr>
          <p:cNvPr id="10" name="Picture 9" descr="chen_facility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779" y="1380000"/>
            <a:ext cx="8282442" cy="46500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a16:creationId xmlns:a16="http://schemas.microsoft.com/office/drawing/2014/main" id="{81A81F78-E71A-46FE-8585-1E4E174FDBC9}"/>
              </a:ext>
            </a:extLst>
          </p:cNvPr>
          <p:cNvSpPr>
            <a:spLocks noGrp="1"/>
          </p:cNvSpPr>
          <p:nvPr/>
        </p:nvSpPr>
        <p:spPr>
          <a:xfrm>
            <a:off x="609600" y="6080000"/>
            <a:ext cx="10972800" cy="38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098"/>
          </a:bodyPr>
          <a:lstStyle/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Facility to floor to zone to slot; slot is built for one vehicle type.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/>
      <p:sp>
        <p:nvSpPr>
          <p:cNvPr id="9" name="">
            <a:extLst>
              <a:ext uri="{FF2B5EF4-FFF2-40B4-BE49-F238E27FC236}">
                <a16:creationId xmlns:a16="http://schemas.microsoft.com/office/drawing/2014/main" id="{64D93E6A-8596-472F-8343-3C081DAA9406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ER Detail: Users, customers, vehicles and audit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7DD083F-7B89-4857-B0C9-53B108C5FB7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7E2DA"/>
          </a:solidFill>
          <a:ln w="0">
            <a:noFill/>
          </a:ln>
        </p:spPr>
        <p:txBody>
          <a:bodyPr/>
          <a:p/>
        </p:txBody>
      </p:sp>
      <p:pic>
        <p:nvPicPr>
          <p:cNvPr id="10" name="Picture 9" descr="chen_people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58" y="1380000"/>
            <a:ext cx="6385483" cy="46500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a16:creationId xmlns:a16="http://schemas.microsoft.com/office/drawing/2014/main" id="{81A81F78-E71A-46FE-8585-1E4E174FDBC9}"/>
              </a:ext>
            </a:extLst>
          </p:cNvPr>
          <p:cNvSpPr>
            <a:spLocks noGrp="1"/>
          </p:cNvSpPr>
          <p:nvPr/>
        </p:nvSpPr>
        <p:spPr>
          <a:xfrm>
            <a:off x="609600" y="6080000"/>
            <a:ext cx="10972800" cy="38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098"/>
          </a:bodyPr>
          <a:lstStyle/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Login identity is separate from the customer record; audit log records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/>
      <p:sp>
        <p:nvSpPr>
          <p:cNvPr id="9" name="">
            <a:extLst>
              <a:ext uri="{FF2B5EF4-FFF2-40B4-BE49-F238E27FC236}">
                <a16:creationId xmlns:a16="http://schemas.microsoft.com/office/drawing/2014/main" id="{64D93E6A-8596-472F-8343-3C081DAA9406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ER Detail: Tariffs and passes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7DD083F-7B89-4857-B0C9-53B108C5FB7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7E2DA"/>
          </a:solidFill>
          <a:ln w="0">
            <a:noFill/>
          </a:ln>
        </p:spPr>
        <p:txBody>
          <a:bodyPr/>
          <a:p/>
        </p:txBody>
      </p:sp>
      <p:pic>
        <p:nvPicPr>
          <p:cNvPr id="10" name="Picture 9" descr="chen_pricing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891" y="1380000"/>
            <a:ext cx="8674217" cy="46500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a16:creationId xmlns:a16="http://schemas.microsoft.com/office/drawing/2014/main" id="{81A81F78-E71A-46FE-8585-1E4E174FDBC9}"/>
              </a:ext>
            </a:extLst>
          </p:cNvPr>
          <p:cNvSpPr>
            <a:spLocks noGrp="1"/>
          </p:cNvSpPr>
          <p:nvPr/>
        </p:nvSpPr>
        <p:spPr>
          <a:xfrm>
            <a:off x="609600" y="6080000"/>
            <a:ext cx="10972800" cy="38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098"/>
          </a:bodyPr>
          <a:lstStyle/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Tariffs are priced per vehicle type; passes bind a customer, vehicle and pass type.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/>
      <p:sp>
        <p:nvSpPr>
          <p:cNvPr id="9" name="">
            <a:extLst>
              <a:ext uri="{FF2B5EF4-FFF2-40B4-BE49-F238E27FC236}">
                <a16:creationId xmlns:a16="http://schemas.microsoft.com/office/drawing/2014/main" id="{64D93E6A-8596-472F-8343-3C081DAA9406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ER Detail: Reservations and parking sessions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7DD083F-7B89-4857-B0C9-53B108C5FB7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7E2DA"/>
          </a:solidFill>
          <a:ln w="0">
            <a:noFill/>
          </a:ln>
        </p:spPr>
        <p:txBody>
          <a:bodyPr/>
          <a:p/>
        </p:txBody>
      </p:sp>
      <p:pic>
        <p:nvPicPr>
          <p:cNvPr id="10" name="Picture 9" descr="chen_sessions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35" y="1380000"/>
            <a:ext cx="9573529" cy="46500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a16:creationId xmlns:a16="http://schemas.microsoft.com/office/drawing/2014/main" id="{81A81F78-E71A-46FE-8585-1E4E174FDBC9}"/>
              </a:ext>
            </a:extLst>
          </p:cNvPr>
          <p:cNvSpPr>
            <a:spLocks noGrp="1"/>
          </p:cNvSpPr>
          <p:nvPr/>
        </p:nvSpPr>
        <p:spPr>
          <a:xfrm>
            <a:off x="609600" y="6080000"/>
            <a:ext cx="10972800" cy="38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098"/>
          </a:bodyPr>
          <a:lstStyle/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Non-overlapping reservations per slot; one active session per slot and vehicle.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/>
      <p:sp>
        <p:nvSpPr>
          <p:cNvPr id="9" name="">
            <a:extLst>
              <a:ext uri="{FF2B5EF4-FFF2-40B4-BE49-F238E27FC236}">
                <a16:creationId xmlns:a16="http://schemas.microsoft.com/office/drawing/2014/main" id="{64D93E6A-8596-472F-8343-3C081DAA9406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ER Detail: Billing and violations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7DD083F-7B89-4857-B0C9-53B108C5FB7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7E2DA"/>
          </a:solidFill>
          <a:ln w="0">
            <a:noFill/>
          </a:ln>
        </p:spPr>
        <p:txBody>
          <a:bodyPr/>
          <a:p/>
        </p:txBody>
      </p:sp>
      <p:pic>
        <p:nvPicPr>
          <p:cNvPr id="10" name="Picture 9" descr="chen_billing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460" y="1380000"/>
            <a:ext cx="6579080" cy="46500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a16:creationId xmlns:a16="http://schemas.microsoft.com/office/drawing/2014/main" id="{81A81F78-E71A-46FE-8585-1E4E174FDBC9}"/>
              </a:ext>
            </a:extLst>
          </p:cNvPr>
          <p:cNvSpPr>
            <a:spLocks noGrp="1"/>
          </p:cNvSpPr>
          <p:nvPr/>
        </p:nvSpPr>
        <p:spPr>
          <a:xfrm>
            <a:off x="609600" y="6080000"/>
            <a:ext cx="10972800" cy="38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098"/>
          </a:bodyPr>
          <a:lstStyle/>
          <a:p>
            <a:pPr>
              <a:def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2251C"/>
                </a:solidFill>
                <a:latin typeface="Helvetica Neue"/>
                <a:ea typeface="Helvetica Neue"/>
                <a:cs typeface="Helvetica Neue"/>
              </a:rPr>
              <a:t>One bill per session, priced by a tariff; payments settle bills.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2026-10-06T03:10:22.7300000Z</dcterms:created>
  <dcterms:modified xsi:type="dcterms:W3CDTF">2026-10-06T03:10:22.7300000Z</dcterms:modified>
</coreProperties>
</file>